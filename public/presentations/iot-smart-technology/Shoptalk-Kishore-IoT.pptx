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16_54942B9D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0"/>
  </p:notesMasterIdLst>
  <p:handoutMasterIdLst>
    <p:handoutMasterId r:id="rId11"/>
  </p:handoutMasterIdLst>
  <p:sldIdLst>
    <p:sldId id="278" r:id="rId2"/>
    <p:sldId id="279" r:id="rId3"/>
    <p:sldId id="281" r:id="rId4"/>
    <p:sldId id="282" r:id="rId5"/>
    <p:sldId id="283" r:id="rId6"/>
    <p:sldId id="285" r:id="rId7"/>
    <p:sldId id="284" r:id="rId8"/>
    <p:sldId id="280" r:id="rId9"/>
  </p:sldIdLst>
  <p:sldSz cx="12192000" cy="6858000"/>
  <p:notesSz cx="9942513" cy="67611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D22240-051A-FFDC-B5E3-C37FA92DAF21}" name="Kishore Ravi" initials="KR" userId="ee76fbae6842b1a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39933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1741" autoAdjust="0"/>
  </p:normalViewPr>
  <p:slideViewPr>
    <p:cSldViewPr snapToGrid="0">
      <p:cViewPr varScale="1">
        <p:scale>
          <a:sx n="88" d="100"/>
          <a:sy n="88" d="100"/>
        </p:scale>
        <p:origin x="36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16_54942B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CEED43-9B70-49E7-B0DF-7F8D07981415}" authorId="{FCD22240-051A-FFDC-B5E3-C37FA92DAF21}" created="2025-11-10T06:58:38.709">
    <pc:sldMkLst xmlns:pc="http://schemas.microsoft.com/office/powerpoint/2013/main/command">
      <pc:docMk/>
      <pc:sldMk cId="1418996637" sldId="278"/>
    </pc:sldMkLst>
    <p188:txBody>
      <a:bodyPr/>
      <a:lstStyle/>
      <a:p>
        <a:r>
          <a:rPr lang="en-IN"/>
          <a:t>Notes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8423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31790" y="1"/>
            <a:ext cx="4308423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BDD84-883A-4A49-9A2C-A54D441F295C}" type="datetimeFigureOut">
              <a:rPr lang="en-IN" smtClean="0"/>
              <a:t>10-11-2025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21932"/>
            <a:ext cx="4308423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31790" y="6421932"/>
            <a:ext cx="4308423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654D18-F232-42CB-9462-07536FF73E7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475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8423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1790" y="1"/>
            <a:ext cx="4308423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F8A48-B2CB-4E86-BA61-402D1D743C5D}" type="datetimeFigureOut">
              <a:rPr lang="en-IN" smtClean="0"/>
              <a:t>10-11-2025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44550"/>
            <a:ext cx="4056063" cy="2281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252" y="3253810"/>
            <a:ext cx="7954010" cy="266220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21932"/>
            <a:ext cx="4308423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1790" y="6421932"/>
            <a:ext cx="4308423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16DC4-C4CF-4638-ACC2-5F0E740410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05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16DC4-C4CF-4638-ACC2-5F0E740410C3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399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16DC4-C4CF-4638-ACC2-5F0E740410C3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038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16DC4-C4CF-4638-ACC2-5F0E740410C3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250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8B6E-A616-9305-05BF-B929E0C5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0FAAC-A6C4-8810-831E-E5F6D66BC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FCE99-F9E9-5863-34F8-5142677B2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32E7B-841D-C82C-4619-829AC67F5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16DC4-C4CF-4638-ACC2-5F0E740410C3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93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A1D9-248B-E80D-7CDF-1A6DCBFB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B4C4B-6976-7914-D1E1-1D36A9961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F06AA-550F-681F-1995-28493AEE0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EFC08-EADE-55DA-7C08-887E2B628B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16DC4-C4CF-4638-ACC2-5F0E740410C3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79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9B863-43F7-240D-7930-687A9BACF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E4129-89EA-2A97-A638-E8F6998D8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10FFE-8D3C-954F-029C-CE58DE0C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D556F-C70C-3CE1-6EB4-2A2E17950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16DC4-C4CF-4638-ACC2-5F0E740410C3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919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55B5-F65D-9289-BA19-54888CC23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B39CD-AF55-1A51-878B-39BA7D386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ACBFE-E0AD-7B11-035C-42C734EA9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FED08-1F97-ECDB-18B7-4DB2411C3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16DC4-C4CF-4638-ACC2-5F0E740410C3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8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16DC4-C4CF-4638-ACC2-5F0E740410C3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61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58DD-0D56-48B4-A614-20045EFB446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94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2BCF-3370-4878-BC3C-A69B64BE578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59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2389-EDCF-40DA-83DF-FA533FCF1B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68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0711-3D6C-4167-9EBA-F9EC79E4D1F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40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A7E9-01B8-4208-A824-8C01EF6F817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11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C139-77B8-4F03-9B42-5DC774043AC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72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E1A5-9D68-4112-8CA4-8A65037993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51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0F3B0-4551-4C95-AD92-C127EA0CB64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06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81DF5-9FD4-4C0F-9CB3-8A61F29AB4F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19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3FF5-CA9D-4C65-95B8-1874DDC1D51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0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3D46-378E-4F36-B1A1-5574AE572EA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783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8ADBD-BDA6-46B4-936F-27AB96CECF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25600" y="6224588"/>
            <a:ext cx="2146742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fld id="{DAC5ACEC-7CDE-4B09-A26F-6C14684A3C80}" type="datetime4">
              <a:rPr lang="en-IN" sz="1800" smtClean="0">
                <a:solidFill>
                  <a:prstClr val="black"/>
                </a:solidFill>
              </a:rPr>
              <a:pPr eaLnBrk="1" hangingPunct="1">
                <a:defRPr/>
              </a:pPr>
              <a:t>10 November 2025</a:t>
            </a:fld>
            <a:endParaRPr lang="en-IN" sz="1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0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3E07-7A3E-42E7-9D3D-431BC29859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1633200" y="571500"/>
            <a:ext cx="1219200" cy="914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11192933" y="365125"/>
            <a:ext cx="1219200" cy="914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0" y="1574800"/>
            <a:ext cx="1219200" cy="91440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68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92964-7C70-4618-92B8-F25F9FA937A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1E5A3-DE94-4B23-91A1-9CCDE7E9460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2341" y="6727822"/>
            <a:ext cx="11836399" cy="13017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2056979" y="0"/>
            <a:ext cx="135021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" y="0"/>
            <a:ext cx="135020" cy="6858000"/>
          </a:xfrm>
          <a:prstGeom prst="rect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53261" y="2"/>
            <a:ext cx="11838740" cy="155575"/>
          </a:xfrm>
          <a:prstGeom prst="rect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prstClr val="white"/>
              </a:solidFill>
            </a:endParaRPr>
          </a:p>
        </p:txBody>
      </p:sp>
      <p:sp>
        <p:nvSpPr>
          <p:cNvPr id="12" name="Pentagon 11"/>
          <p:cNvSpPr/>
          <p:nvPr userDrawn="1"/>
        </p:nvSpPr>
        <p:spPr>
          <a:xfrm rot="5400000">
            <a:off x="52388" y="-52388"/>
            <a:ext cx="365127" cy="469903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prstClr val="white"/>
              </a:solidFill>
            </a:endParaRPr>
          </a:p>
        </p:txBody>
      </p:sp>
      <p:sp>
        <p:nvSpPr>
          <p:cNvPr id="13" name="Pentagon 12"/>
          <p:cNvSpPr/>
          <p:nvPr userDrawn="1"/>
        </p:nvSpPr>
        <p:spPr>
          <a:xfrm rot="16200000" flipV="1">
            <a:off x="11774486" y="6450013"/>
            <a:ext cx="365127" cy="469903"/>
          </a:xfrm>
          <a:prstGeom prst="homePlate">
            <a:avLst/>
          </a:prstGeom>
          <a:solidFill>
            <a:srgbClr val="0089D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prstClr val="white"/>
              </a:solidFill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42828" y="1255114"/>
            <a:ext cx="1102049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F:\F\abdesktop\Logo_NTTF_2019\NTTF Logo_png.png">
            <a:extLst>
              <a:ext uri="{FF2B5EF4-FFF2-40B4-BE49-F238E27FC236}">
                <a16:creationId xmlns:a16="http://schemas.microsoft.com/office/drawing/2014/main" id="{E4EB309A-98E3-9B48-B606-7F9D4FAE3B73}"/>
              </a:ext>
            </a:extLst>
          </p:cNvPr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18" y="236733"/>
            <a:ext cx="2851631" cy="838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635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54942B9D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858E5FB-BA08-F0FA-F703-8B7FBA9818EC}"/>
              </a:ext>
            </a:extLst>
          </p:cNvPr>
          <p:cNvGrpSpPr/>
          <p:nvPr/>
        </p:nvGrpSpPr>
        <p:grpSpPr>
          <a:xfrm>
            <a:off x="162560" y="656557"/>
            <a:ext cx="11572240" cy="5901354"/>
            <a:chOff x="162560" y="656557"/>
            <a:chExt cx="11572240" cy="590135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BD86C48-07C7-D75F-F515-4438B8374272}"/>
                </a:ext>
              </a:extLst>
            </p:cNvPr>
            <p:cNvGrpSpPr/>
            <p:nvPr/>
          </p:nvGrpSpPr>
          <p:grpSpPr>
            <a:xfrm>
              <a:off x="1477390" y="4454085"/>
              <a:ext cx="5273040" cy="2077462"/>
              <a:chOff x="284480" y="4493002"/>
              <a:chExt cx="5273040" cy="207746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18DA31-7BDB-4D2D-1723-371B74FCC280}"/>
                  </a:ext>
                </a:extLst>
              </p:cNvPr>
              <p:cNvSpPr txBox="1"/>
              <p:nvPr/>
            </p:nvSpPr>
            <p:spPr>
              <a:xfrm>
                <a:off x="284480" y="4493002"/>
                <a:ext cx="5273040" cy="461665"/>
              </a:xfrm>
              <a:prstGeom prst="rect">
                <a:avLst/>
              </a:prstGeom>
              <a:solidFill>
                <a:srgbClr val="00206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chemeClr val="bg1"/>
                    </a:solidFill>
                  </a:rPr>
                  <a:t>Name:-KISHORE R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3D1281-46EE-A8EE-AEA5-55BE89F424ED}"/>
                  </a:ext>
                </a:extLst>
              </p:cNvPr>
              <p:cNvSpPr txBox="1"/>
              <p:nvPr/>
            </p:nvSpPr>
            <p:spPr>
              <a:xfrm>
                <a:off x="284480" y="5031601"/>
                <a:ext cx="5273040" cy="461665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chemeClr val="bg1"/>
                    </a:solidFill>
                  </a:rPr>
                  <a:t>Course:-CP01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F9FB8-2379-5E17-9156-87A9CD9FADC8}"/>
                  </a:ext>
                </a:extLst>
              </p:cNvPr>
              <p:cNvSpPr txBox="1"/>
              <p:nvPr/>
            </p:nvSpPr>
            <p:spPr>
              <a:xfrm>
                <a:off x="284480" y="5570200"/>
                <a:ext cx="5273040" cy="461665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chemeClr val="bg1"/>
                    </a:solidFill>
                  </a:rPr>
                  <a:t>Section:-D1-B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3722BB-2CF8-17E9-1754-483134382BB8}"/>
                  </a:ext>
                </a:extLst>
              </p:cNvPr>
              <p:cNvSpPr txBox="1"/>
              <p:nvPr/>
            </p:nvSpPr>
            <p:spPr>
              <a:xfrm>
                <a:off x="284480" y="6108799"/>
                <a:ext cx="5273040" cy="46166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chemeClr val="bg1"/>
                    </a:solidFill>
                  </a:rPr>
                  <a:t>Centre:-THALASSERY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9E9E33C-F8EF-F326-86F3-2640E34A388F}"/>
                </a:ext>
              </a:extLst>
            </p:cNvPr>
            <p:cNvGrpSpPr/>
            <p:nvPr/>
          </p:nvGrpSpPr>
          <p:grpSpPr>
            <a:xfrm>
              <a:off x="8453120" y="1872306"/>
              <a:ext cx="3281680" cy="1795245"/>
              <a:chOff x="8544560" y="4503746"/>
              <a:chExt cx="3281680" cy="1795245"/>
            </a:xfrm>
          </p:grpSpPr>
          <p:sp>
            <p:nvSpPr>
              <p:cNvPr id="8" name="Flowchart: Terminator 7">
                <a:extLst>
                  <a:ext uri="{FF2B5EF4-FFF2-40B4-BE49-F238E27FC236}">
                    <a16:creationId xmlns:a16="http://schemas.microsoft.com/office/drawing/2014/main" id="{2B9F9D29-B4A4-5308-3C4F-67228B74EE40}"/>
                  </a:ext>
                </a:extLst>
              </p:cNvPr>
              <p:cNvSpPr/>
              <p:nvPr/>
            </p:nvSpPr>
            <p:spPr>
              <a:xfrm>
                <a:off x="8544560" y="4503746"/>
                <a:ext cx="3281680" cy="820559"/>
              </a:xfrm>
              <a:prstGeom prst="flowChartTerminator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600" b="1" dirty="0"/>
                  <a:t>NOV</a:t>
                </a:r>
                <a:endParaRPr lang="en-IN" sz="3600" b="1" dirty="0"/>
              </a:p>
            </p:txBody>
          </p:sp>
          <p:sp>
            <p:nvSpPr>
              <p:cNvPr id="9" name="Flowchart: Terminator 8">
                <a:extLst>
                  <a:ext uri="{FF2B5EF4-FFF2-40B4-BE49-F238E27FC236}">
                    <a16:creationId xmlns:a16="http://schemas.microsoft.com/office/drawing/2014/main" id="{FBD4E18A-6227-C6A6-AC21-2BAF8AA82487}"/>
                  </a:ext>
                </a:extLst>
              </p:cNvPr>
              <p:cNvSpPr/>
              <p:nvPr/>
            </p:nvSpPr>
            <p:spPr>
              <a:xfrm>
                <a:off x="8544560" y="5478432"/>
                <a:ext cx="3281680" cy="820559"/>
              </a:xfrm>
              <a:prstGeom prst="flowChartTerminator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600" b="1" dirty="0">
                    <a:solidFill>
                      <a:srgbClr val="FFFF00"/>
                    </a:solidFill>
                  </a:rPr>
                  <a:t>2025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BB53EA-F7AC-65FE-6BEC-83FD7110D170}"/>
                </a:ext>
              </a:extLst>
            </p:cNvPr>
            <p:cNvSpPr txBox="1"/>
            <p:nvPr/>
          </p:nvSpPr>
          <p:spPr>
            <a:xfrm>
              <a:off x="652019" y="656557"/>
              <a:ext cx="18473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IN" sz="3200" b="1" dirty="0">
                <a:latin typeface="Copperplate Gothic Bold" panose="020E0705020206020404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C170954-76F8-02E0-86B3-0D2EC6D63ED8}"/>
                </a:ext>
              </a:extLst>
            </p:cNvPr>
            <p:cNvSpPr/>
            <p:nvPr/>
          </p:nvSpPr>
          <p:spPr>
            <a:xfrm>
              <a:off x="162560" y="1395459"/>
              <a:ext cx="7902701" cy="29541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800" dirty="0">
                  <a:latin typeface="Amasis MT Pro Black" panose="02040A04050005020304" pitchFamily="18" charset="0"/>
                </a:rPr>
                <a:t>Internet of Things (IOT)</a:t>
              </a:r>
            </a:p>
            <a:p>
              <a:pPr algn="ctr"/>
              <a:endParaRPr lang="en-IN" sz="4000" dirty="0">
                <a:latin typeface="Amasis MT Pro Black" panose="02040A04050005020304" pitchFamily="18" charset="0"/>
              </a:endParaRPr>
            </a:p>
            <a:p>
              <a:pPr algn="ctr"/>
              <a:r>
                <a:rPr lang="en-GB" sz="2400" dirty="0">
                  <a:latin typeface="Amasis MT Pro Black" panose="02040A04050005020304" pitchFamily="18" charset="0"/>
                </a:rPr>
                <a:t>Connecting the World through Smart Technology</a:t>
              </a:r>
              <a:endParaRPr lang="en-IN" sz="2400" dirty="0">
                <a:latin typeface="Amasis MT Pro Black" panose="02040A04050005020304" pitchFamily="18" charset="0"/>
              </a:endParaRPr>
            </a:p>
          </p:txBody>
        </p:sp>
        <p:pic>
          <p:nvPicPr>
            <p:cNvPr id="2" name="Picture 2" descr="Technical Innovation: Everything you need to know about">
              <a:extLst>
                <a:ext uri="{FF2B5EF4-FFF2-40B4-BE49-F238E27FC236}">
                  <a16:creationId xmlns:a16="http://schemas.microsoft.com/office/drawing/2014/main" id="{5BF94261-FF1C-63D8-983B-4AF54F4520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8" r="20518"/>
            <a:stretch/>
          </p:blipFill>
          <p:spPr bwMode="auto">
            <a:xfrm>
              <a:off x="8987686" y="3889121"/>
              <a:ext cx="2212547" cy="2668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18996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1E3FEDA-079D-19E8-C4DE-AF36AE4A5597}"/>
              </a:ext>
            </a:extLst>
          </p:cNvPr>
          <p:cNvGrpSpPr/>
          <p:nvPr/>
        </p:nvGrpSpPr>
        <p:grpSpPr>
          <a:xfrm>
            <a:off x="416560" y="404241"/>
            <a:ext cx="8605519" cy="875919"/>
            <a:chOff x="416560" y="404241"/>
            <a:chExt cx="8605519" cy="87591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20191DE-7A53-B01A-1234-4FA43327F9A6}"/>
                </a:ext>
              </a:extLst>
            </p:cNvPr>
            <p:cNvSpPr txBox="1"/>
            <p:nvPr/>
          </p:nvSpPr>
          <p:spPr>
            <a:xfrm>
              <a:off x="1199782" y="580590"/>
              <a:ext cx="7822297" cy="52322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chemeClr val="bg1">
                      <a:lumMod val="95000"/>
                    </a:schemeClr>
                  </a:solidFill>
                  <a:latin typeface="Copperplate Gothic Bold" panose="020E0705020206020404" pitchFamily="34" charset="0"/>
                </a:rPr>
                <a:t>Topic:- </a:t>
              </a:r>
              <a:r>
                <a:rPr lang="en-IN" sz="2800" b="1" dirty="0">
                  <a:solidFill>
                    <a:srgbClr val="FFFF00"/>
                  </a:solidFill>
                  <a:latin typeface="Copperplate Gothic Bold" panose="020E0705020206020404" pitchFamily="34" charset="0"/>
                </a:rPr>
                <a:t>Introduction</a:t>
              </a:r>
            </a:p>
          </p:txBody>
        </p:sp>
        <p:pic>
          <p:nvPicPr>
            <p:cNvPr id="3" name="Picture 2" descr="Technical Innovation: Everything you need to know about">
              <a:extLst>
                <a:ext uri="{FF2B5EF4-FFF2-40B4-BE49-F238E27FC236}">
                  <a16:creationId xmlns:a16="http://schemas.microsoft.com/office/drawing/2014/main" id="{8DF1554E-CFC0-8344-97BC-76F11B932B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8" r="20518"/>
            <a:stretch/>
          </p:blipFill>
          <p:spPr bwMode="auto">
            <a:xfrm>
              <a:off x="416560" y="404241"/>
              <a:ext cx="783223" cy="8759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111910F-1149-3C3C-B59A-3008F0DD6E90}"/>
              </a:ext>
            </a:extLst>
          </p:cNvPr>
          <p:cNvSpPr txBox="1"/>
          <p:nvPr/>
        </p:nvSpPr>
        <p:spPr>
          <a:xfrm>
            <a:off x="670833" y="1456509"/>
            <a:ext cx="1127623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IOT stands for Internet of Things.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It refers to a network of physical devices connected to the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These devices collect and share data with each other.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IOT helps in making our daily life easier, smarter, and more 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Examples: Smartwatches, smart homes, connected cars, etc.</a:t>
            </a:r>
            <a:endParaRPr lang="en-IN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230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1E3FEDA-079D-19E8-C4DE-AF36AE4A5597}"/>
              </a:ext>
            </a:extLst>
          </p:cNvPr>
          <p:cNvGrpSpPr/>
          <p:nvPr/>
        </p:nvGrpSpPr>
        <p:grpSpPr>
          <a:xfrm>
            <a:off x="416560" y="404241"/>
            <a:ext cx="8605519" cy="875919"/>
            <a:chOff x="416560" y="404241"/>
            <a:chExt cx="8605519" cy="87591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20191DE-7A53-B01A-1234-4FA43327F9A6}"/>
                </a:ext>
              </a:extLst>
            </p:cNvPr>
            <p:cNvSpPr txBox="1"/>
            <p:nvPr/>
          </p:nvSpPr>
          <p:spPr>
            <a:xfrm>
              <a:off x="1199782" y="580590"/>
              <a:ext cx="7822297" cy="52322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chemeClr val="bg1">
                      <a:lumMod val="95000"/>
                    </a:schemeClr>
                  </a:solidFill>
                  <a:latin typeface="Copperplate Gothic Bold" panose="020E0705020206020404" pitchFamily="34" charset="0"/>
                </a:rPr>
                <a:t>Topic:- </a:t>
              </a:r>
              <a:r>
                <a:rPr lang="en-IN" sz="2800" b="1" dirty="0">
                  <a:solidFill>
                    <a:srgbClr val="FFFF00"/>
                  </a:solidFill>
                  <a:latin typeface="Copperplate Gothic Bold" panose="020E0705020206020404" pitchFamily="34" charset="0"/>
                </a:rPr>
                <a:t>Definition</a:t>
              </a:r>
            </a:p>
          </p:txBody>
        </p:sp>
        <p:pic>
          <p:nvPicPr>
            <p:cNvPr id="3" name="Picture 2" descr="Technical Innovation: Everything you need to know about">
              <a:extLst>
                <a:ext uri="{FF2B5EF4-FFF2-40B4-BE49-F238E27FC236}">
                  <a16:creationId xmlns:a16="http://schemas.microsoft.com/office/drawing/2014/main" id="{8DF1554E-CFC0-8344-97BC-76F11B932B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8" r="20518"/>
            <a:stretch/>
          </p:blipFill>
          <p:spPr bwMode="auto">
            <a:xfrm>
              <a:off x="416560" y="404241"/>
              <a:ext cx="783223" cy="8759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99FB0CB-E406-10CD-0340-BF3517F32945}"/>
              </a:ext>
            </a:extLst>
          </p:cNvPr>
          <p:cNvSpPr txBox="1"/>
          <p:nvPr/>
        </p:nvSpPr>
        <p:spPr>
          <a:xfrm>
            <a:off x="638174" y="2129429"/>
            <a:ext cx="112272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latin typeface="Arial Black" panose="020B0A04020102020204" pitchFamily="34" charset="0"/>
              </a:rPr>
              <a:t>“The Internet of Things (IOT) is a system of interrelated computing devices, mechanical and digital machines, or objects that can transfer data over a network without human intervention.”</a:t>
            </a:r>
            <a:endParaRPr lang="en-IN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53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A1BC1-6F2A-2F89-4D0B-3A6EAA95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41C4202-7951-7EA8-F3B9-2D49C6FE6209}"/>
              </a:ext>
            </a:extLst>
          </p:cNvPr>
          <p:cNvGrpSpPr/>
          <p:nvPr/>
        </p:nvGrpSpPr>
        <p:grpSpPr>
          <a:xfrm>
            <a:off x="416560" y="404241"/>
            <a:ext cx="8605519" cy="875919"/>
            <a:chOff x="416560" y="404241"/>
            <a:chExt cx="8605519" cy="87591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70FE32C-C9BB-97AF-AFE3-63D6BC2C9BF2}"/>
                </a:ext>
              </a:extLst>
            </p:cNvPr>
            <p:cNvSpPr txBox="1"/>
            <p:nvPr/>
          </p:nvSpPr>
          <p:spPr>
            <a:xfrm>
              <a:off x="1199782" y="580590"/>
              <a:ext cx="7822297" cy="52322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chemeClr val="bg1">
                      <a:lumMod val="95000"/>
                    </a:schemeClr>
                  </a:solidFill>
                  <a:latin typeface="Copperplate Gothic Bold" panose="020E0705020206020404" pitchFamily="34" charset="0"/>
                </a:rPr>
                <a:t>Topic:- </a:t>
              </a:r>
              <a:r>
                <a:rPr lang="en-IN" sz="2800" b="1" dirty="0">
                  <a:solidFill>
                    <a:srgbClr val="FFFF00"/>
                  </a:solidFill>
                  <a:latin typeface="Copperplate Gothic Bold" panose="020E0705020206020404" pitchFamily="34" charset="0"/>
                </a:rPr>
                <a:t>IOT Diagram</a:t>
              </a:r>
            </a:p>
          </p:txBody>
        </p:sp>
        <p:pic>
          <p:nvPicPr>
            <p:cNvPr id="3" name="Picture 2" descr="Technical Innovation: Everything you need to know about">
              <a:extLst>
                <a:ext uri="{FF2B5EF4-FFF2-40B4-BE49-F238E27FC236}">
                  <a16:creationId xmlns:a16="http://schemas.microsoft.com/office/drawing/2014/main" id="{0F95894C-C6C0-6CA7-B69A-0ACEDE2C45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8" r="20518"/>
            <a:stretch/>
          </p:blipFill>
          <p:spPr bwMode="auto">
            <a:xfrm>
              <a:off x="416560" y="404241"/>
              <a:ext cx="783223" cy="8759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E999C62-6863-C011-D9EB-1078635BC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042" y="1485900"/>
            <a:ext cx="3302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048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EBD7D-C143-C838-D5DC-543EBCCD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34924FD-6F7E-7C86-7C92-D83474934206}"/>
              </a:ext>
            </a:extLst>
          </p:cNvPr>
          <p:cNvGrpSpPr/>
          <p:nvPr/>
        </p:nvGrpSpPr>
        <p:grpSpPr>
          <a:xfrm>
            <a:off x="416560" y="404241"/>
            <a:ext cx="8605519" cy="875919"/>
            <a:chOff x="416560" y="404241"/>
            <a:chExt cx="8605519" cy="87591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1CEE232-605B-1441-66BB-4BBC76C5DF91}"/>
                </a:ext>
              </a:extLst>
            </p:cNvPr>
            <p:cNvSpPr txBox="1"/>
            <p:nvPr/>
          </p:nvSpPr>
          <p:spPr>
            <a:xfrm>
              <a:off x="1199782" y="580590"/>
              <a:ext cx="7822297" cy="52322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chemeClr val="bg1">
                      <a:lumMod val="95000"/>
                    </a:schemeClr>
                  </a:solidFill>
                  <a:latin typeface="Copperplate Gothic Bold" panose="020E0705020206020404" pitchFamily="34" charset="0"/>
                </a:rPr>
                <a:t>Topic:- </a:t>
              </a:r>
              <a:r>
                <a:rPr lang="en-IN" sz="2800" b="1" dirty="0">
                  <a:solidFill>
                    <a:srgbClr val="FFFF00"/>
                  </a:solidFill>
                  <a:latin typeface="Copperplate Gothic Bold" panose="020E0705020206020404" pitchFamily="34" charset="0"/>
                </a:rPr>
                <a:t>Applications of IOT</a:t>
              </a:r>
            </a:p>
          </p:txBody>
        </p:sp>
        <p:pic>
          <p:nvPicPr>
            <p:cNvPr id="3" name="Picture 2" descr="Technical Innovation: Everything you need to know about">
              <a:extLst>
                <a:ext uri="{FF2B5EF4-FFF2-40B4-BE49-F238E27FC236}">
                  <a16:creationId xmlns:a16="http://schemas.microsoft.com/office/drawing/2014/main" id="{FA968134-7BD9-A11B-97D3-6018E8FD39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8" r="20518"/>
            <a:stretch/>
          </p:blipFill>
          <p:spPr bwMode="auto">
            <a:xfrm>
              <a:off x="416560" y="404241"/>
              <a:ext cx="783223" cy="8759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2D23B7A-4FD9-EB65-2DEE-B5516BB97286}"/>
              </a:ext>
            </a:extLst>
          </p:cNvPr>
          <p:cNvSpPr txBox="1"/>
          <p:nvPr/>
        </p:nvSpPr>
        <p:spPr>
          <a:xfrm>
            <a:off x="899432" y="1641999"/>
            <a:ext cx="102312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Smart Homes (lighting, security, appliances)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Smart Cities (traffic control, waste management)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Healthcare (patient monitoring)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Agriculture (smart irrigation)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Industrial automation</a:t>
            </a:r>
            <a:endParaRPr lang="en-IN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12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F0E5-DE8D-7AE8-50A5-63756CD4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4687F32-CB72-2121-D2AC-A7EBA22B5F66}"/>
              </a:ext>
            </a:extLst>
          </p:cNvPr>
          <p:cNvGrpSpPr/>
          <p:nvPr/>
        </p:nvGrpSpPr>
        <p:grpSpPr>
          <a:xfrm>
            <a:off x="416560" y="404241"/>
            <a:ext cx="8605519" cy="875919"/>
            <a:chOff x="416560" y="404241"/>
            <a:chExt cx="8605519" cy="87591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BE8C479-B1B3-B98D-A254-E3DCD9FDBE99}"/>
                </a:ext>
              </a:extLst>
            </p:cNvPr>
            <p:cNvSpPr txBox="1"/>
            <p:nvPr/>
          </p:nvSpPr>
          <p:spPr>
            <a:xfrm>
              <a:off x="1199782" y="580590"/>
              <a:ext cx="7822297" cy="52322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chemeClr val="bg1">
                      <a:lumMod val="95000"/>
                    </a:schemeClr>
                  </a:solidFill>
                  <a:latin typeface="Copperplate Gothic Bold" panose="020E0705020206020404" pitchFamily="34" charset="0"/>
                </a:rPr>
                <a:t>Topic:- </a:t>
              </a:r>
              <a:r>
                <a:rPr lang="en-IN" sz="2800" b="1" dirty="0">
                  <a:solidFill>
                    <a:srgbClr val="FFFF00"/>
                  </a:solidFill>
                  <a:latin typeface="Copperplate Gothic Bold" panose="020E0705020206020404" pitchFamily="34" charset="0"/>
                </a:rPr>
                <a:t>VIDEO</a:t>
              </a:r>
            </a:p>
          </p:txBody>
        </p:sp>
        <p:pic>
          <p:nvPicPr>
            <p:cNvPr id="3" name="Picture 2" descr="Technical Innovation: Everything you need to know about">
              <a:extLst>
                <a:ext uri="{FF2B5EF4-FFF2-40B4-BE49-F238E27FC236}">
                  <a16:creationId xmlns:a16="http://schemas.microsoft.com/office/drawing/2014/main" id="{F81A3A2A-A291-2465-5606-CA0FFB5695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8" r="20518"/>
            <a:stretch/>
          </p:blipFill>
          <p:spPr bwMode="auto">
            <a:xfrm>
              <a:off x="416560" y="404241"/>
              <a:ext cx="783223" cy="8759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videoplayback">
            <a:hlinkClick r:id="" action="ppaction://media"/>
            <a:extLst>
              <a:ext uri="{FF2B5EF4-FFF2-40B4-BE49-F238E27FC236}">
                <a16:creationId xmlns:a16="http://schemas.microsoft.com/office/drawing/2014/main" id="{215BD350-4B8E-D4BE-1A3F-686CE89D069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" y="1362307"/>
            <a:ext cx="10232571" cy="509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82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FDFA1-5D86-0C8F-9DE4-78E4301E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121AF7-16ED-2881-94F2-59695C0AF4A7}"/>
              </a:ext>
            </a:extLst>
          </p:cNvPr>
          <p:cNvGrpSpPr/>
          <p:nvPr/>
        </p:nvGrpSpPr>
        <p:grpSpPr>
          <a:xfrm>
            <a:off x="416560" y="404241"/>
            <a:ext cx="8605519" cy="875919"/>
            <a:chOff x="416560" y="404241"/>
            <a:chExt cx="8605519" cy="87591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629EA96-36EB-9BB5-F097-29F0FDB285D1}"/>
                </a:ext>
              </a:extLst>
            </p:cNvPr>
            <p:cNvSpPr txBox="1"/>
            <p:nvPr/>
          </p:nvSpPr>
          <p:spPr>
            <a:xfrm>
              <a:off x="1199782" y="580590"/>
              <a:ext cx="7822297" cy="52322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chemeClr val="bg1">
                      <a:lumMod val="95000"/>
                    </a:schemeClr>
                  </a:solidFill>
                  <a:latin typeface="Copperplate Gothic Bold" panose="020E0705020206020404" pitchFamily="34" charset="0"/>
                </a:rPr>
                <a:t>Topic:- </a:t>
              </a:r>
              <a:r>
                <a:rPr lang="en-IN" sz="2800" b="1" dirty="0">
                  <a:solidFill>
                    <a:srgbClr val="FFFF00"/>
                  </a:solidFill>
                  <a:latin typeface="Copperplate Gothic Bold" panose="020E0705020206020404" pitchFamily="34" charset="0"/>
                </a:rPr>
                <a:t>Conclusion</a:t>
              </a:r>
            </a:p>
          </p:txBody>
        </p:sp>
        <p:pic>
          <p:nvPicPr>
            <p:cNvPr id="3" name="Picture 2" descr="Technical Innovation: Everything you need to know about">
              <a:extLst>
                <a:ext uri="{FF2B5EF4-FFF2-40B4-BE49-F238E27FC236}">
                  <a16:creationId xmlns:a16="http://schemas.microsoft.com/office/drawing/2014/main" id="{FC9DEB24-2653-D85A-AE41-C45928C224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8" r="20518"/>
            <a:stretch/>
          </p:blipFill>
          <p:spPr bwMode="auto">
            <a:xfrm>
              <a:off x="416560" y="404241"/>
              <a:ext cx="783223" cy="8759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1A6FCD-B614-E1A0-7DEA-B3BD484679BE}"/>
              </a:ext>
            </a:extLst>
          </p:cNvPr>
          <p:cNvSpPr txBox="1"/>
          <p:nvPr/>
        </p:nvSpPr>
        <p:spPr>
          <a:xfrm>
            <a:off x="970189" y="1874728"/>
            <a:ext cx="1040538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IOT is revolutionizing the way we live and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It creates smart, connected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Future of IOT is promising with AI, cloud, and 5G.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 Black" panose="020B0A04020102020204" pitchFamily="34" charset="0"/>
              </a:rPr>
              <a:t>However, security and privacy are key challenges.</a:t>
            </a:r>
            <a:endParaRPr lang="en-IN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544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51BB8EB-AFA5-4AF2-EDA3-4E97D182ADEB}"/>
              </a:ext>
            </a:extLst>
          </p:cNvPr>
          <p:cNvGrpSpPr/>
          <p:nvPr/>
        </p:nvGrpSpPr>
        <p:grpSpPr>
          <a:xfrm>
            <a:off x="548640" y="1232654"/>
            <a:ext cx="11003280" cy="4777081"/>
            <a:chOff x="548640" y="1232654"/>
            <a:chExt cx="11003280" cy="477708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F6AFC19-4A88-B65E-D3BF-A1CE6320B420}"/>
                </a:ext>
              </a:extLst>
            </p:cNvPr>
            <p:cNvSpPr txBox="1"/>
            <p:nvPr/>
          </p:nvSpPr>
          <p:spPr>
            <a:xfrm>
              <a:off x="548640" y="1232654"/>
              <a:ext cx="1100328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9600" b="1" dirty="0">
                  <a:solidFill>
                    <a:srgbClr val="0070C0"/>
                  </a:solidFill>
                  <a:effectLst/>
                  <a:latin typeface="Amasis MT Pro Black" panose="02040A04050005020304" pitchFamily="18" charset="0"/>
                  <a:ea typeface="MS Mincho" panose="02020609040205080304" pitchFamily="49" charset="-128"/>
                  <a:cs typeface="Arial" panose="020B0604020202020204" pitchFamily="34" charset="0"/>
                </a:rPr>
                <a:t>THANK </a:t>
              </a:r>
              <a:r>
                <a:rPr lang="en-IN" sz="9600" b="1" dirty="0">
                  <a:solidFill>
                    <a:srgbClr val="ED7D31"/>
                  </a:solidFill>
                  <a:effectLst/>
                  <a:latin typeface="Amasis MT Pro Black" panose="02040A04050005020304" pitchFamily="18" charset="0"/>
                  <a:ea typeface="MS Mincho" panose="02020609040205080304" pitchFamily="49" charset="-128"/>
                  <a:cs typeface="Arial" panose="020B0604020202020204" pitchFamily="34" charset="0"/>
                </a:rPr>
                <a:t>YOU</a:t>
              </a:r>
              <a:endParaRPr lang="en-IN" sz="9600" dirty="0">
                <a:effectLst/>
                <a:latin typeface="Amasis MT Pro Black" panose="02040A040500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2" name="Picture 2" descr="Technical Innovation: Everything you need to know about">
              <a:extLst>
                <a:ext uri="{FF2B5EF4-FFF2-40B4-BE49-F238E27FC236}">
                  <a16:creationId xmlns:a16="http://schemas.microsoft.com/office/drawing/2014/main" id="{287C55E0-9647-8BDB-4B35-DFE1B5601A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8" r="20518"/>
            <a:stretch/>
          </p:blipFill>
          <p:spPr bwMode="auto">
            <a:xfrm>
              <a:off x="4697043" y="2634871"/>
              <a:ext cx="2797914" cy="3374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18875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F0F0F0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  <wetp:taskpane dockstate="right" visibility="0" width="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9F1F7E4-F7E4-49C0-A87A-7A072290EDB5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54CA88D-8C24-4AA2-B4A7-5FF570D46C87}">
  <we:reference id="wa200003706" version="1.1.0.0" store="en-US" storeType="OMEX"/>
  <we:alternateReferences>
    <we:reference id="wa200003706" version="1.1.0.0" store="wa20000370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11196</TotalTime>
  <Words>218</Words>
  <Application>Microsoft Office PowerPoint</Application>
  <PresentationFormat>Widescreen</PresentationFormat>
  <Paragraphs>50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Amasis MT Pro Black</vt:lpstr>
      <vt:lpstr>Arial</vt:lpstr>
      <vt:lpstr>Arial Black</vt:lpstr>
      <vt:lpstr>Calibri</vt:lpstr>
      <vt:lpstr>Copperplate Gothic Bold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Kishore Ravi</cp:lastModifiedBy>
  <cp:revision>787</cp:revision>
  <cp:lastPrinted>2021-08-06T10:30:40Z</cp:lastPrinted>
  <dcterms:created xsi:type="dcterms:W3CDTF">2020-12-23T06:47:14Z</dcterms:created>
  <dcterms:modified xsi:type="dcterms:W3CDTF">2025-11-10T07:10:22Z</dcterms:modified>
</cp:coreProperties>
</file>